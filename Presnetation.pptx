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9"/>
  </p:notesMasterIdLst>
  <p:handoutMasterIdLst>
    <p:handoutMasterId r:id="rId10"/>
  </p:handoutMasterIdLst>
  <p:sldIdLst>
    <p:sldId id="309" r:id="rId2"/>
    <p:sldId id="324" r:id="rId3"/>
    <p:sldId id="325" r:id="rId4"/>
    <p:sldId id="328" r:id="rId5"/>
    <p:sldId id="312" r:id="rId6"/>
    <p:sldId id="329" r:id="rId7"/>
    <p:sldId id="322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>
        <p:scale>
          <a:sx n="75" d="100"/>
          <a:sy n="75" d="100"/>
        </p:scale>
        <p:origin x="974" y="360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10/20/2026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10/20/2026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3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4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85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5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2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4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08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6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22670-E22D-8C86-C230-98DB37C4A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07" y="1253331"/>
            <a:ext cx="10512862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DEEF-A1EC-5E39-A3DC-F80F3524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834" y="6421836"/>
            <a:ext cx="27424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518A-4C30-6974-2B47-D1DFBC7D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0467" y="6435528"/>
            <a:ext cx="491362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183E3-CCC9-82B0-E4C0-608939E3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7234" y="6421835"/>
            <a:ext cx="2742486" cy="365125"/>
          </a:xfrm>
        </p:spPr>
        <p:txBody>
          <a:bodyPr/>
          <a:lstStyle/>
          <a:p>
            <a:fld id="{BC58B3AD-D297-1047-9FAD-E399140930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B2BAF-4E46-E1E5-2A03-488E5A4E8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47723" cy="68275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7C9AFA-0506-58E4-7332-7D31F2B82E1A}"/>
              </a:ext>
            </a:extLst>
          </p:cNvPr>
          <p:cNvCxnSpPr>
            <a:cxnSpLocks/>
          </p:cNvCxnSpPr>
          <p:nvPr userDrawn="1"/>
        </p:nvCxnSpPr>
        <p:spPr>
          <a:xfrm>
            <a:off x="0" y="640913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33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2044" y="2276872"/>
            <a:ext cx="8784976" cy="576064"/>
          </a:xfrm>
        </p:spPr>
        <p:txBody>
          <a:bodyPr/>
          <a:lstStyle/>
          <a:p>
            <a:pPr>
              <a:defRPr/>
            </a:pPr>
            <a:r>
              <a:rPr lang="en-US" sz="2400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044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EC96AF-4D86-8F19-0B71-2C7DCF93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3" y="154196"/>
            <a:ext cx="2133044" cy="19036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044" y="2919715"/>
            <a:ext cx="10055781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 err="1"/>
              <a:t>MediMind</a:t>
            </a:r>
            <a:r>
              <a:rPr lang="en-IN" sz="2800" b="1" dirty="0"/>
              <a:t> AI: Intelligent Medical Diagnosis and Report Analysis</a:t>
            </a: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382954" y="4278955"/>
            <a:ext cx="2471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Members-</a:t>
            </a:r>
          </a:p>
          <a:p>
            <a:r>
              <a:rPr lang="en-US" dirty="0"/>
              <a:t>Surosut Senior</a:t>
            </a:r>
          </a:p>
          <a:p>
            <a:r>
              <a:rPr lang="en-US" dirty="0"/>
              <a:t>Priyanshu Kumar</a:t>
            </a:r>
          </a:p>
          <a:p>
            <a:r>
              <a:rPr lang="en-US" dirty="0"/>
              <a:t>Tavish Bedi</a:t>
            </a:r>
          </a:p>
          <a:p>
            <a:r>
              <a:rPr lang="en-US" dirty="0"/>
              <a:t>Shourya Tripathi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132557" y="4240997"/>
            <a:ext cx="3866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 SUPERVISION OF  :</a:t>
            </a:r>
          </a:p>
          <a:p>
            <a:r>
              <a:rPr lang="en-US" dirty="0"/>
              <a:t>SUPERVISOR’S NAME : Kanishk Tolani DESIGNATION: Assistant Professor</a:t>
            </a:r>
          </a:p>
          <a:p>
            <a:r>
              <a:rPr lang="en-US" dirty="0"/>
              <a:t>COURSE NAME:</a:t>
            </a:r>
          </a:p>
          <a:p>
            <a:r>
              <a:rPr lang="en-US" dirty="0"/>
              <a:t>ORGANIZATION: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6380" y="3791986"/>
            <a:ext cx="232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SESSION 2026-2027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96551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311" y="6576293"/>
            <a:ext cx="6617167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044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044" y="0"/>
            <a:ext cx="10055781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Garamond" panose="02020404030301010803" pitchFamily="18" charset="0"/>
                <a:cs typeface="Times New Roman" pitchFamily="18" charset="0"/>
              </a:rPr>
              <a:t>Outlines</a:t>
            </a:r>
            <a:endParaRPr lang="en-US" sz="4000" dirty="0"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0" y="1366896"/>
            <a:ext cx="7870948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Introduction And Project Domain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Problem Statement And Motivation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Literature Review And Research Gap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Objectives And Scope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Novelty / Innovation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Proposed Methodology And System Architecture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Resource Requirements And Feasibility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Expected Outcomes And Social Impact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dirty="0"/>
              <a:t>Conclusion, Future Scope And References</a:t>
            </a:r>
          </a:p>
        </p:txBody>
      </p:sp>
    </p:spTree>
    <p:extLst>
      <p:ext uri="{BB962C8B-B14F-4D97-AF65-F5344CB8AC3E}">
        <p14:creationId xmlns:p14="http://schemas.microsoft.com/office/powerpoint/2010/main" val="400002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311" y="6576293"/>
            <a:ext cx="6617167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044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044" y="0"/>
            <a:ext cx="10055781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700" b="1">
                <a:solidFill>
                  <a:srgbClr val="142A4B"/>
                </a:solidFill>
                <a:latin typeface="Aptos Display"/>
              </a:defRPr>
            </a:pPr>
            <a:r>
              <a:rPr lang="en-GB" sz="2800" dirty="0">
                <a:solidFill>
                  <a:schemeClr val="bg1"/>
                </a:solidFill>
              </a:rPr>
              <a:t>INTRODUCTION &amp; PROJECT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2120347" y="736600"/>
            <a:ext cx="1005578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500"/>
              </a:spcAft>
              <a:buFont typeface="Wingdings" panose="05000000000000000000" pitchFamily="2" charset="2"/>
              <a:buChar char="v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b="1" dirty="0"/>
              <a:t>Project domain / application area</a:t>
            </a:r>
            <a:r>
              <a:rPr lang="en-US" dirty="0"/>
              <a:t>: </a:t>
            </a:r>
          </a:p>
          <a:p>
            <a:pPr>
              <a:spcAft>
                <a:spcPts val="15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IN" sz="1600" dirty="0">
                <a:solidFill>
                  <a:srgbClr val="28313C"/>
                </a:solidFill>
                <a:latin typeface="Aptos"/>
              </a:rPr>
              <a:t>	Artificial Intelligence (AI), Machine Learning (ML), Natural Language Processing (NLP), and Healthcare 	Informatics</a:t>
            </a:r>
            <a:r>
              <a:rPr lang="en-IN" dirty="0">
                <a:solidFill>
                  <a:srgbClr val="28313C"/>
                </a:solidFill>
                <a:latin typeface="Aptos"/>
              </a:rPr>
              <a:t>.</a:t>
            </a:r>
            <a:endParaRPr lang="en-US" dirty="0"/>
          </a:p>
          <a:p>
            <a:pPr marL="285750" indent="-285750">
              <a:spcAft>
                <a:spcPts val="1500"/>
              </a:spcAft>
              <a:buFont typeface="Wingdings" panose="05000000000000000000" pitchFamily="2" charset="2"/>
              <a:buChar char="v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b="1" dirty="0"/>
              <a:t>Background and context: </a:t>
            </a:r>
          </a:p>
          <a:p>
            <a:pPr>
              <a:spcAft>
                <a:spcPts val="15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IN" sz="1600" dirty="0">
                <a:solidFill>
                  <a:srgbClr val="28313C"/>
                </a:solidFill>
                <a:latin typeface="Aptos"/>
              </a:rPr>
              <a:t>	Medical reports often contain complex terminology that is difficult for patients to understand. AI can 	help interpret laboratory results, </a:t>
            </a:r>
            <a:r>
              <a:rPr lang="en-IN" sz="1600" dirty="0" err="1">
                <a:solidFill>
                  <a:srgbClr val="28313C"/>
                </a:solidFill>
                <a:latin typeface="Aptos"/>
              </a:rPr>
              <a:t>analyze</a:t>
            </a:r>
            <a:r>
              <a:rPr lang="en-IN" sz="1600" dirty="0">
                <a:solidFill>
                  <a:srgbClr val="28313C"/>
                </a:solidFill>
                <a:latin typeface="Aptos"/>
              </a:rPr>
              <a:t> reported symptoms, and provide accessible medical 	information.</a:t>
            </a:r>
            <a:endParaRPr lang="en-US" sz="1600" dirty="0"/>
          </a:p>
          <a:p>
            <a:pPr marL="285750" indent="-285750">
              <a:spcAft>
                <a:spcPts val="1500"/>
              </a:spcAft>
              <a:buFont typeface="Wingdings" panose="05000000000000000000" pitchFamily="2" charset="2"/>
              <a:buChar char="v"/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US" b="1" dirty="0"/>
              <a:t>Brief overview of the proposed system / solution</a:t>
            </a:r>
            <a:r>
              <a:rPr lang="en-US" dirty="0"/>
              <a:t>: </a:t>
            </a:r>
          </a:p>
          <a:p>
            <a:pPr>
              <a:spcAft>
                <a:spcPts val="15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rPr lang="en-IN" sz="1600" b="1" dirty="0">
                <a:solidFill>
                  <a:srgbClr val="28313C"/>
                </a:solidFill>
                <a:latin typeface="Aptos"/>
              </a:rPr>
              <a:t>	</a:t>
            </a:r>
            <a:r>
              <a:rPr lang="en-IN" sz="1600" b="1" dirty="0" err="1">
                <a:solidFill>
                  <a:srgbClr val="28313C"/>
                </a:solidFill>
                <a:latin typeface="Aptos"/>
              </a:rPr>
              <a:t>MediMind</a:t>
            </a:r>
            <a:r>
              <a:rPr lang="en-IN" sz="1600" b="1" dirty="0">
                <a:solidFill>
                  <a:srgbClr val="28313C"/>
                </a:solidFill>
                <a:latin typeface="Aptos"/>
              </a:rPr>
              <a:t> AI</a:t>
            </a:r>
            <a:r>
              <a:rPr lang="en-IN" sz="1600" dirty="0">
                <a:solidFill>
                  <a:srgbClr val="28313C"/>
                </a:solidFill>
                <a:latin typeface="Aptos"/>
              </a:rPr>
              <a:t> is an AI-powered healthcare assistant that </a:t>
            </a:r>
            <a:r>
              <a:rPr lang="en-IN" sz="1600" dirty="0" err="1">
                <a:solidFill>
                  <a:srgbClr val="28313C"/>
                </a:solidFill>
                <a:latin typeface="Aptos"/>
              </a:rPr>
              <a:t>analyzes</a:t>
            </a:r>
            <a:r>
              <a:rPr lang="en-IN" sz="1600" dirty="0">
                <a:solidFill>
                  <a:srgbClr val="28313C"/>
                </a:solidFill>
                <a:latin typeface="Aptos"/>
              </a:rPr>
              <a:t> symptoms, extracts information from 	medical reports, identifies abnormal laboratory values, and generates easy-to-understand 	explanations with references to trusted medical sources</a:t>
            </a:r>
            <a:r>
              <a:rPr lang="en-IN" dirty="0">
                <a:solidFill>
                  <a:srgbClr val="28313C"/>
                </a:solidFill>
                <a:latin typeface="Aptos"/>
              </a:rPr>
              <a:t>.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/>
              <a:t>Platforms, tools and technologies likely to be used: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Frontend:</a:t>
            </a:r>
            <a:r>
              <a:rPr lang="en-IN" sz="1600" dirty="0"/>
              <a:t> React.js, TypeScript, Tailwind CSS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Backend:</a:t>
            </a:r>
            <a:r>
              <a:rPr lang="en-IN" sz="1600" dirty="0"/>
              <a:t> Node.js, Express.js, Python, </a:t>
            </a:r>
            <a:r>
              <a:rPr lang="en-IN" sz="1600" dirty="0" err="1"/>
              <a:t>FastAPI</a:t>
            </a:r>
            <a:r>
              <a:rPr lang="en-IN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Database:</a:t>
            </a:r>
            <a:r>
              <a:rPr lang="en-IN" sz="1600" dirty="0"/>
              <a:t> MongoDB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AI/ML:</a:t>
            </a:r>
            <a:r>
              <a:rPr lang="en-IN" sz="1600" dirty="0"/>
              <a:t> NLP, Scikit-learn, Large Language Models (LLMs), RAG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Document Processing:</a:t>
            </a:r>
            <a:r>
              <a:rPr lang="en-IN" sz="1600" dirty="0"/>
              <a:t> </a:t>
            </a:r>
            <a:r>
              <a:rPr lang="en-IN" sz="1600" dirty="0" err="1"/>
              <a:t>PyMuPDF</a:t>
            </a:r>
            <a:r>
              <a:rPr lang="en-IN" sz="1600" dirty="0"/>
              <a:t>, Tesseract OCR</a:t>
            </a:r>
          </a:p>
          <a:p>
            <a:pPr>
              <a:spcAft>
                <a:spcPts val="1500"/>
              </a:spcAft>
              <a:defRPr sz="1800">
                <a:solidFill>
                  <a:srgbClr val="28313C"/>
                </a:solidFill>
                <a:latin typeface="Aptos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55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311" y="6576293"/>
            <a:ext cx="6617167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044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044" y="0"/>
            <a:ext cx="10055781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10036" y="796467"/>
            <a:ext cx="829729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>
              <a:defRPr sz="2700" b="1">
                <a:solidFill>
                  <a:srgbClr val="142A4B"/>
                </a:solidFill>
                <a:latin typeface="Aptos Display"/>
              </a:defRPr>
            </a:pPr>
            <a:r>
              <a:rPr lang="en-GB" sz="1600" dirty="0"/>
              <a:t>PRESENTATION &amp; FORMATTING GUIDELINES</a:t>
            </a:r>
          </a:p>
          <a:p>
            <a:pPr>
              <a:defRPr sz="2700" b="1">
                <a:solidFill>
                  <a:srgbClr val="142A4B"/>
                </a:solidFill>
                <a:latin typeface="Aptos Display"/>
              </a:defRPr>
            </a:pPr>
            <a:endParaRPr lang="en-GB" sz="1600" dirty="0"/>
          </a:p>
          <a:p>
            <a:pPr algn="just">
              <a:spcAft>
                <a:spcPts val="15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rPr lang="en-US" sz="1600" dirty="0"/>
              <a:t>Suggested presentation duration: 10–15 minutes, followed by discussion.</a:t>
            </a:r>
          </a:p>
          <a:p>
            <a:pPr algn="just">
              <a:spcAft>
                <a:spcPts val="15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rPr lang="en-US" sz="1600" dirty="0"/>
              <a:t>Heading: 32 </a:t>
            </a:r>
            <a:r>
              <a:rPr lang="en-US" sz="1600" dirty="0" err="1"/>
              <a:t>pt</a:t>
            </a:r>
            <a:r>
              <a:rPr lang="en-US" sz="1600" dirty="0"/>
              <a:t> | Subheading: 18 </a:t>
            </a:r>
            <a:r>
              <a:rPr lang="en-US" sz="1600" dirty="0" err="1"/>
              <a:t>pt</a:t>
            </a:r>
            <a:r>
              <a:rPr lang="en-US" sz="1600" dirty="0"/>
              <a:t> | Body text: 16 </a:t>
            </a:r>
            <a:r>
              <a:rPr lang="en-US" sz="1600" dirty="0" err="1"/>
              <a:t>pt</a:t>
            </a:r>
            <a:r>
              <a:rPr lang="en-US" sz="1600" dirty="0"/>
              <a:t> (as per sample format).</a:t>
            </a:r>
          </a:p>
          <a:p>
            <a:pPr algn="just">
              <a:spcAft>
                <a:spcPts val="15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rPr lang="en-US" sz="1600" dirty="0"/>
              <a:t>Use consistent fonts, </a:t>
            </a:r>
            <a:r>
              <a:rPr lang="en-US" sz="1600" dirty="0" err="1"/>
              <a:t>colours</a:t>
            </a:r>
            <a:r>
              <a:rPr lang="en-US" sz="1600" dirty="0"/>
              <a:t>, bullet styles and slide layouts throughout.</a:t>
            </a:r>
          </a:p>
          <a:p>
            <a:pPr algn="just">
              <a:spcAft>
                <a:spcPts val="15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rPr lang="en-US" sz="1600" dirty="0"/>
              <a:t>Keep slides concise; use diagrams, tables or flowcharts where they improve clarity.</a:t>
            </a:r>
          </a:p>
          <a:p>
            <a:pPr algn="just">
              <a:spcAft>
                <a:spcPts val="15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rPr lang="en-US" sz="1600" dirty="0"/>
              <a:t>Align running text consistently and proofread spelling, grammar and references.</a:t>
            </a:r>
          </a:p>
          <a:p>
            <a:pPr algn="just">
              <a:spcAft>
                <a:spcPts val="15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rPr lang="en-US" sz="1600" dirty="0"/>
              <a:t>Clearly explain the research gap, novelty, feasibility and practical relevance.</a:t>
            </a:r>
          </a:p>
          <a:p>
            <a:br>
              <a:rPr lang="en-US" sz="2800" dirty="0"/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548F4-B3B2-90AD-1A16-965123CAB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44" y="764271"/>
            <a:ext cx="9938032" cy="555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9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311" y="6576293"/>
            <a:ext cx="6617167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044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044" y="0"/>
            <a:ext cx="10055781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700" b="1">
                <a:solidFill>
                  <a:srgbClr val="142A4B"/>
                </a:solidFill>
                <a:latin typeface="Aptos Display"/>
              </a:defRPr>
            </a:pPr>
            <a:r>
              <a:rPr lang="en-GB" sz="2800" dirty="0">
                <a:solidFill>
                  <a:schemeClr val="bg1"/>
                </a:solidFill>
              </a:rPr>
              <a:t>PROBLEM STATEMENT &amp; MOTIVATION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DA94DD-E860-365F-30C9-8E479AACBE68}"/>
              </a:ext>
            </a:extLst>
          </p:cNvPr>
          <p:cNvSpPr txBox="1"/>
          <p:nvPr/>
        </p:nvSpPr>
        <p:spPr>
          <a:xfrm>
            <a:off x="2277988" y="1060779"/>
            <a:ext cx="9721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Problem Statement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Medical reports often contain complex terminology that is difficult for non-medical users to understand.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Manual interpretation of laboratory results can be confusing and time-consuming.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Existing symptom-checking tools may provide limited integration with medical report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Users need accessible health information to understand their symptoms and test results.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1AA26-157C-820E-FD59-D0BA8B636D19}"/>
              </a:ext>
            </a:extLst>
          </p:cNvPr>
          <p:cNvSpPr txBox="1"/>
          <p:nvPr/>
        </p:nvSpPr>
        <p:spPr>
          <a:xfrm>
            <a:off x="2304112" y="3429000"/>
            <a:ext cx="9041449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Motivation</a:t>
            </a: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simplify medical report interpretation using Artificial Intelligence.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provide understandable explanations of laboratory findings and reported symptoms.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integrate symptom assessment with medical report analysis in one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promote informed healthcare decisions through accessible, evidence-based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61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311" y="6576293"/>
            <a:ext cx="6617167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044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044" y="0"/>
            <a:ext cx="10055781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700" b="1">
                <a:solidFill>
                  <a:srgbClr val="142A4B"/>
                </a:solidFill>
                <a:latin typeface="Aptos Display"/>
              </a:defRPr>
            </a:pPr>
            <a:r>
              <a:rPr lang="en-GB" sz="2800" dirty="0">
                <a:solidFill>
                  <a:schemeClr val="bg1"/>
                </a:solidFill>
              </a:rPr>
              <a:t>LITERATURE REVIEW &amp; RESEARCH GAP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E6BA0-9B0F-7CB4-D616-8B5ADDCCE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714" y="777839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0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311" y="6576293"/>
            <a:ext cx="6617167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044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044" y="0"/>
            <a:ext cx="10055781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51236" y="2825450"/>
            <a:ext cx="281939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/>
              <a:t>Thank You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88396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1549</TotalTime>
  <Words>499</Words>
  <Application>Microsoft Office PowerPoint</Application>
  <PresentationFormat>Custom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Century Gothic</vt:lpstr>
      <vt:lpstr>Garamond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Surosut Senior</cp:lastModifiedBy>
  <cp:revision>119</cp:revision>
  <dcterms:created xsi:type="dcterms:W3CDTF">2017-11-16T17:39:44Z</dcterms:created>
  <dcterms:modified xsi:type="dcterms:W3CDTF">2026-10-20T06:15:06Z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